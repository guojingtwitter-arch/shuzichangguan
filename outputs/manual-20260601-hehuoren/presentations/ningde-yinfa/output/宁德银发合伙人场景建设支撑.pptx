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45236d06774f2b" /><Relationship Type="http://schemas.openxmlformats.org/officeDocument/2006/relationships/extended-properties" Target="/docProps/app.xml" Id="Rafb181d429aa4e3a" /><Relationship Type="http://schemas.openxmlformats.org/officeDocument/2006/relationships/officeDocument" Target="/ppt/presentation.xml" Id="R08c5360807fe40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a0021e86784dd8"/>
  </p:sldMasterIdLst>
  <p:notesMasterIdLst>
    <p:notesMasterId xmlns:r="http://schemas.openxmlformats.org/officeDocument/2006/relationships" r:id="Rccbf16e3ed2842f2"/>
  </p:notesMasterIdLst>
  <p:sldIdLst>
    <p:sldId xmlns:r="http://schemas.openxmlformats.org/officeDocument/2006/relationships" id="256" r:id="R83acb204d7dd4b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0021e86784dd8" /><Relationship Type="http://schemas.openxmlformats.org/officeDocument/2006/relationships/theme" Target="/ppt/theme/theme1.xml" Id="R6a04716596e9463d" /><Relationship Type="http://schemas.openxmlformats.org/officeDocument/2006/relationships/notesMaster" Target="/ppt/notesMasters/notesMaster1.xml" Id="Rccbf16e3ed2842f2" /><Relationship Type="http://schemas.openxmlformats.org/officeDocument/2006/relationships/presProps" Target="/ppt/presProps.xml" Id="Rf43fb6fe8c6141ef" /><Relationship Type="http://schemas.openxmlformats.org/officeDocument/2006/relationships/viewProps" Target="/ppt/viewProps.xml" Id="R08a34984d51d4ef5" /><Relationship Type="http://schemas.openxmlformats.org/officeDocument/2006/relationships/tableStyles" Target="/ppt/tableStyles.xml" Id="R3b47a716d6814cb2" /><Relationship Type="http://schemas.openxmlformats.org/officeDocument/2006/relationships/slide" Target="/ppt/slides/slide1.xml" Id="R83acb204d7dd4b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e52363f489647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69284a39ad4f63" /><Relationship Type="http://schemas.openxmlformats.org/officeDocument/2006/relationships/notesMaster" Target="/ppt/notesMasters/notesMaster1.xml" Id="R504b378b6b954a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46277aaf8470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8e797a458d44d17" /><Relationship Type="http://schemas.openxmlformats.org/officeDocument/2006/relationships/slideLayout" Target="/ppt/slideLayouts/slideLayout2.xml" Id="Ra2bc5781331c42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bc5781331c42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1f27614ad04f88" /><Relationship Type="http://schemas.openxmlformats.org/officeDocument/2006/relationships/notesSlide" Target="/ppt/notesSlides/notesSlide1.xml" Id="R363b743bfaba47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C7934F-BBFC-47F4-8ACE-20478492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宁德银发合伙人场景建设支撑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D648B-6A0C-4E0C-8A60-E53450D8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81050"/>
            <a:ext cx="1146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7C9"/>
          </a:solidFill>
          <a:ln xmlns:a="http://schemas.openxmlformats.org/drawingml/2006/main" w="0">
            <a:solidFill>
              <a:srgbClr val="1187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A540D-56E3-4324-86FE-7A12A892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87C9"/>
                </a:solidFill>
                <a:latin typeface="Microsoft YaHei"/>
                <a:ea typeface="Microsoft YaHei"/>
                <a:cs typeface="Microsoft YaHei"/>
              </a:rPr>
              <a:t>China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2FF2D-5881-46DD-866D-0A5F9C90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953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8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87C9"/>
                </a:solidFill>
                <a:latin typeface="Microsoft YaHei"/>
                <a:ea typeface="Microsoft YaHei"/>
                <a:cs typeface="Microsoft YaHei"/>
              </a:rPr>
              <a:t>中国移动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C9814-F04A-49A7-B038-9B50EDB8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07FFD-EBCC-4E3E-8D4C-9737535D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依托福小创平台开展本地化二次开发，围绕银发合伙人“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2D93A-DE17-4D03-B834-8D1B0ECF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03822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场景运营、商机转化、运营优化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99CCC-C6E1-4ACD-8D9A-53EADBDD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3822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”三大模块，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941BD-8176-4006-BD20-15C65B46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形成标准动作线上流转、客户线索闭环转化、运营打法动态优化的数智化支撑体系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123BB-FAE8-4B32-9A22-564E7297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36385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0EF18-8022-4CB8-B639-DD99D55E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990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7C9"/>
          </a:solidFill>
          <a:ln xmlns:a="http://schemas.openxmlformats.org/drawingml/2006/main" w="0">
            <a:solidFill>
              <a:srgbClr val="1187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BAE39-7746-4DEE-9A9C-77032B87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95475"/>
            <a:ext cx="299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场景运营标准化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E691E-EEC5-43C0-ADCA-364C7973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76500"/>
            <a:ext cx="2971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67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67B1"/>
                </a:solidFill>
                <a:latin typeface="Microsoft YaHei"/>
                <a:ea typeface="Microsoft YaHei"/>
                <a:cs typeface="Microsoft YaHei"/>
              </a:rPr>
              <a:t>以社区网格服务为主线，形成可复制的银发合伙人运营模板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B9474-67DA-4B37-A91D-7513E54C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09C38-EDD4-4956-990F-3735C2D8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480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社区入户服务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9C65A-D815-49BA-A4B3-24464B11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1718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B778B-30FE-48BB-B9ED-9006F576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2480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电话调查协同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E7C7C-4917-40B8-B98A-C156A7B0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7CAA7-29E3-4F59-9067-DECE7459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内容转发获客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4F4C2E-781D-40FE-83D4-06D4175D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6671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59DE04-7A78-4943-9F88-DA11C85C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7433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在线培训赋能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4ED10-ABE0-4342-B6C3-3E256A6F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6AD623-AEBC-4B65-B790-28259458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走访计划发布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766D87-4028-448B-AEA4-A946B001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1624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A3B2F6-2973-4E25-8975-56F39CCA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2386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水印打卡留痕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38BCE6-B4C9-4783-81BE-BEAE85B4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577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5CBE7D-1ED4-46CB-BFCD-4F634AAD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339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三级后台监控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9844E3-84BA-452B-816A-9ABDB07E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6577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A73FFA-F20F-4907-8FF9-11ED576D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7339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替代群内接龙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84D16B-468A-4594-BC4B-D265E271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38750"/>
            <a:ext cx="1885950" cy="2667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E7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823E5B-242C-4F39-A1A3-8D1EE5DE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9590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目标效果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C911E4-1926-4EAC-8705-A1F40FC1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A26BB9-EBA4-4B32-8E85-1E320E0D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3882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动作可执行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882E5F-AF1C-40B5-8035-63F7F9BA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75310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AD9782-EA55-41A3-B423-D358BA1C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3882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过程可留痕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47D8B4-3811-4F3A-AB1B-FB43AC64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75310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12A131-1B74-4D8E-9487-EB14EDEE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83882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进度可查看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99AFEC-A7F3-40D3-8B10-A6318ED8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81200"/>
            <a:ext cx="36385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B8343D-4DF0-461B-AABB-CFBBF28D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09750"/>
            <a:ext cx="2990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7C9"/>
          </a:solidFill>
          <a:ln xmlns:a="http://schemas.openxmlformats.org/drawingml/2006/main" w="0">
            <a:solidFill>
              <a:srgbClr val="1187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AC871A-702C-4EC0-BCC0-3D5AC232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95475"/>
            <a:ext cx="299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商机转化闭环化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F84A4A-55EF-4D35-BD9C-0602E807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76500"/>
            <a:ext cx="2971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67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67B1"/>
                </a:solidFill>
                <a:latin typeface="Microsoft YaHei"/>
                <a:ea typeface="Microsoft YaHei"/>
                <a:cs typeface="Microsoft YaHei"/>
              </a:rPr>
              <a:t>以商机池为抓手，打通线索采集、分级、跟进、转化链路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E0EBC2-7530-4BCA-ACDD-E3BEADE6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718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C7D5A5-E91A-4998-B16C-3F6AF130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480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电话调查登记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5A4C3E-3AE8-42CC-A3D1-CB3C8135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718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231644-B22F-4427-975C-1DB2D407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480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客户扫码浏览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CA659B-0C82-45C8-B7D2-CB7F9875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671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24AF67-4897-4358-8D03-E4FD7750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433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宣传内容转发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5D3D61-46EA-4A3D-8CA5-8119BCC8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671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23B298-7AE0-49F5-B444-9B3B451F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7433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入户需求发布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C632C3-47F0-4405-84CC-719A3DEC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624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562CEA-68A8-45E8-9128-B379049B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386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客户行为采集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31428C-E6A3-4172-AF28-73216E6C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1624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81A207-A683-4A5C-986A-055757F2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386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意向等级判定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7588B8-AB6E-4F0D-84A6-25FEC7CB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577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1A0B81-4CF9-4764-91F2-11862D63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339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直销员跟进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F620C0-9940-44F9-9D36-7A19683E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6577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61CAD8-CBF5-46F8-9A79-395438AC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7339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办理结果标记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9F442CF-C409-4AAB-BD52-55E33BE8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38750"/>
            <a:ext cx="1885950" cy="2667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E7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704999D-C849-46FA-AEF4-E34DD16B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9590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目标效果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AFEFC2-5E21-45C9-8A0C-43738AB8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5310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7966CFB-77E6-478C-8451-C6689E0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3882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线索可沉淀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8844AC-36F5-4A2C-9116-15E02ED3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75310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6844FF-FEC6-4FB5-867F-05D7275C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83882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跟进可追踪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9FFFC83-639D-49C7-8B3D-3F5CACA9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75310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B1DB6B0-CC1D-4D12-887C-5FAEB36A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83882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转化可闭环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98DEC8-9E9A-4886-95FE-D118A4C1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36385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8D0D6B4-47F4-4F45-B32A-B979361B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09750"/>
            <a:ext cx="2990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7C9"/>
          </a:solidFill>
          <a:ln xmlns:a="http://schemas.openxmlformats.org/drawingml/2006/main" w="0">
            <a:solidFill>
              <a:srgbClr val="1187C9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64AF3D7-CB7C-4952-AF27-6180CF96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95475"/>
            <a:ext cx="299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运营优化数智化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A14540E-70DD-44D4-8312-A2BB4B14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476500"/>
            <a:ext cx="2971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67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67B1"/>
                </a:solidFill>
                <a:latin typeface="Microsoft YaHei"/>
                <a:ea typeface="Microsoft YaHei"/>
                <a:cs typeface="Microsoft YaHei"/>
              </a:rPr>
              <a:t>以数据看板和激励机制为牵引，动态优化场景打法和运营机制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EBF1A61-C2B2-467A-BFF7-25FE2A97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718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16D1AF9-1E83-4161-9730-2BFBA3D7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480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计划发布数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83AFEDB-0059-464D-B910-B7398B31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1718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B4E31E0-7B5B-46A1-A3F6-FE33BE43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2480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入户完成率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2A23F9F-B01C-4580-869B-087206C8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671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3BEA98E-4B8A-41C2-97F6-3460AC82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433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打卡留痕率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6AC025E-26CC-4697-8A79-918A6178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6671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A154FA6-0807-4FD2-A92E-6684F19B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7433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商机转化率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61A8427-C452-4257-BB02-E42C49FD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624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D6F1867-AED6-45DF-80AF-AFA1500F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386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积分激励牵引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B5F0D12-F157-4B76-A727-40CBE94F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1624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BFB3244-AF30-4B0E-8E31-B4049FF9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2386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薄弱网格识别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CEC581C-BD95-4515-B413-C053AF89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577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6BC68D3-F4D6-42D6-801C-6993B537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339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零产能唤醒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7E82EE3-DEF7-4B24-8294-16BBF378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6577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C450221-D212-4F50-A8B5-480EB385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733925"/>
            <a:ext cx="1228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标杆案例复制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4BCA76F-917C-47BC-A485-F3918E3C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38750"/>
            <a:ext cx="1885950" cy="2667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E7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EFBE046-38CE-4A95-8F6B-C084BB1E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9590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目标效果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B332025-C433-4DFC-860E-E942B02D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5310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0EA596F-918F-4E7D-9F96-104E9257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83882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问题可预警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29887E3-D1FF-41BD-A060-3B669CD3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75310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227769D-9F35-4058-9C4E-A926FF87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83882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激励可兑现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570105E-C60E-4A42-A84B-CE98D6C3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75310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2D4"/>
            </a:solidFill>
            <a:prstDash val="dash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AC8253D-D485-4520-A7F6-A122B345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583882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打法可优化</a:t>
            </a:r>
          </a:p>
        </p:txBody>
      </p:sp>
    </p:spTree>
    <p:extLst>
      <p:ext uri="{BB962C8B-B14F-4D97-AF65-F5344CB8AC3E}">
        <p14:creationId xmlns:p14="http://schemas.microsoft.com/office/powerpoint/2010/main" val="873587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2026-06-01T08:29:59.7290000Z</dcterms:created>
  <dcterms:modified xsi:type="dcterms:W3CDTF">2026-06-01T08:29:59.7300000Z</dcterms:modified>
</coreProperties>
</file>